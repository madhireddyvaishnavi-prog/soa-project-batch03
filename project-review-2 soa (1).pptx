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62" r:id="rId3"/>
    <p:sldId id="904" r:id="rId4"/>
    <p:sldId id="905" r:id="rId5"/>
    <p:sldId id="906" r:id="rId6"/>
    <p:sldId id="907" r:id="rId7"/>
    <p:sldId id="908" r:id="rId8"/>
    <p:sldId id="909" r:id="rId9"/>
    <p:sldId id="910" r:id="rId10"/>
    <p:sldId id="911" r:id="rId11"/>
    <p:sldId id="912" r:id="rId12"/>
    <p:sldId id="707" r:id="rId13"/>
    <p:sldId id="257" r:id="rId14"/>
    <p:sldId id="903" r:id="rId15"/>
    <p:sldId id="902" r:id="rId16"/>
    <p:sldId id="258" r:id="rId17"/>
    <p:sldId id="259" r:id="rId18"/>
    <p:sldId id="2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891491"/>
              </p:ext>
            </p:extLst>
          </p:nvPr>
        </p:nvGraphicFramePr>
        <p:xfrm>
          <a:off x="8150942" y="4898509"/>
          <a:ext cx="3744379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4379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M.Vaishnavi-2420090146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Durga Bhavani-2420030184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Deva-2420030681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910031"/>
              </p:ext>
            </p:extLst>
          </p:nvPr>
        </p:nvGraphicFramePr>
        <p:xfrm>
          <a:off x="-795813" y="4774125"/>
          <a:ext cx="5902325" cy="142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Mary </a:t>
                      </a:r>
                      <a:r>
                        <a:rPr lang="en-IN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Navyatha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Govindu</a:t>
                      </a:r>
                      <a:endParaRPr lang="en-US" sz="14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1061884" y="742837"/>
            <a:ext cx="10541102" cy="121354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COURSE RECOMMENDATION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5555-A033-0971-C2AE-FE57473D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DESIGN: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6E398-B682-6B04-3494-0485B2215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System Design</a:t>
            </a:r>
          </a:p>
          <a:p>
            <a:pPr marL="0" lvl="0" indent="0">
              <a:buNone/>
            </a:pPr>
            <a:r>
              <a:rPr lang="en-IN" b="1" dirty="0"/>
              <a:t>Project:</a:t>
            </a:r>
            <a:r>
              <a:rPr lang="en-IN" dirty="0"/>
              <a:t> Personalized Course Recommendation System </a:t>
            </a:r>
          </a:p>
          <a:p>
            <a:pPr lvl="0"/>
            <a:r>
              <a:rPr lang="en-IN" dirty="0"/>
              <a:t>Collect student academic and preference information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student interests, skills, and academic performance </a:t>
            </a:r>
          </a:p>
          <a:p>
            <a:pPr lvl="0"/>
            <a:r>
              <a:rPr lang="en-IN" dirty="0"/>
              <a:t>Identify suitable courses </a:t>
            </a:r>
          </a:p>
          <a:p>
            <a:pPr lvl="0"/>
            <a:r>
              <a:rPr lang="en-IN" dirty="0"/>
              <a:t>Generate personalized course recommendations </a:t>
            </a:r>
          </a:p>
          <a:p>
            <a:pPr lvl="0"/>
            <a:r>
              <a:rPr lang="en-IN" dirty="0"/>
              <a:t>Provide recommendations through a simple, student-friendly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167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848E-1535-0573-400E-7895978C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Modules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6FB1D-A50C-96D9-BB0A-AF3693BBF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161"/>
            <a:ext cx="10515600" cy="460380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Module 1: Student Information</a:t>
            </a:r>
            <a:endParaRPr lang="en-IN" dirty="0"/>
          </a:p>
          <a:p>
            <a:pPr lvl="0"/>
            <a:r>
              <a:rPr lang="en-IN" dirty="0"/>
              <a:t>Academic performance </a:t>
            </a:r>
          </a:p>
          <a:p>
            <a:pPr lvl="0"/>
            <a:r>
              <a:rPr lang="en-IN" dirty="0"/>
              <a:t>Interests </a:t>
            </a:r>
          </a:p>
          <a:p>
            <a:pPr lvl="0"/>
            <a:r>
              <a:rPr lang="en-IN" dirty="0"/>
              <a:t>Skills </a:t>
            </a:r>
          </a:p>
          <a:p>
            <a:pPr lvl="0"/>
            <a:r>
              <a:rPr lang="en-IN" dirty="0"/>
              <a:t>Preferences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64D4-257F-6647-6F96-C8B73D63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2: Data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362EB-831C-CEE4-4276-71881BF3B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896" y="1140542"/>
            <a:ext cx="10409903" cy="5036421"/>
          </a:xfrm>
        </p:spPr>
        <p:txBody>
          <a:bodyPr>
            <a:normAutofit lnSpcReduction="10000"/>
          </a:bodyPr>
          <a:lstStyle/>
          <a:p>
            <a:pPr lvl="0"/>
            <a:r>
              <a:rPr lang="en-IN" dirty="0" err="1"/>
              <a:t>Analyze</a:t>
            </a:r>
            <a:r>
              <a:rPr lang="en-IN" dirty="0"/>
              <a:t> student information </a:t>
            </a:r>
          </a:p>
          <a:p>
            <a:pPr lvl="0"/>
            <a:r>
              <a:rPr lang="en-IN" dirty="0"/>
              <a:t>Identify suitable courses</a:t>
            </a:r>
          </a:p>
          <a:p>
            <a:pPr lvl="0"/>
            <a:endParaRPr lang="en-IN" dirty="0"/>
          </a:p>
          <a:p>
            <a:pPr marL="0" indent="0">
              <a:buNone/>
            </a:pPr>
            <a:r>
              <a:rPr lang="en-IN" b="1" dirty="0"/>
              <a:t>Module 3: Recommendation</a:t>
            </a:r>
            <a:endParaRPr lang="en-IN" dirty="0"/>
          </a:p>
          <a:p>
            <a:pPr lvl="0"/>
            <a:r>
              <a:rPr lang="en-IN" dirty="0"/>
              <a:t>Generate personalized course recommendations </a:t>
            </a:r>
          </a:p>
          <a:p>
            <a:pPr lvl="0"/>
            <a:r>
              <a:rPr lang="en-IN" dirty="0"/>
              <a:t>Match courses with student profiles </a:t>
            </a:r>
          </a:p>
          <a:p>
            <a:pPr lvl="0"/>
            <a:endParaRPr lang="en-IN" dirty="0"/>
          </a:p>
          <a:p>
            <a:pPr marL="0" indent="0">
              <a:buNone/>
            </a:pPr>
            <a:r>
              <a:rPr lang="en-IN" b="1" dirty="0"/>
              <a:t>Module 4: Feedback</a:t>
            </a:r>
            <a:endParaRPr lang="en-IN" dirty="0"/>
          </a:p>
          <a:p>
            <a:pPr lvl="0"/>
            <a:r>
              <a:rPr lang="en-IN" dirty="0"/>
              <a:t>Collect student feedback </a:t>
            </a:r>
          </a:p>
          <a:p>
            <a:pPr lvl="0"/>
            <a:r>
              <a:rPr lang="en-IN" dirty="0"/>
              <a:t>Improve future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04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4259-6D1E-CB30-596F-2D5608B2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Methodology Adopted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E6932-9A6D-F524-98E4-698676F5F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1716"/>
            <a:ext cx="10515600" cy="563388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Proposed Methodology</a:t>
            </a:r>
          </a:p>
          <a:p>
            <a:r>
              <a:rPr lang="en-IN" b="1" dirty="0"/>
              <a:t>Step 1: Student Data Collection</a:t>
            </a:r>
            <a:endParaRPr lang="en-IN" dirty="0"/>
          </a:p>
          <a:p>
            <a:pPr lvl="0"/>
            <a:r>
              <a:rPr lang="en-IN" dirty="0"/>
              <a:t>Collect academic and preference information </a:t>
            </a:r>
          </a:p>
          <a:p>
            <a:pPr lvl="0"/>
            <a:endParaRPr lang="en-IN" dirty="0"/>
          </a:p>
          <a:p>
            <a:r>
              <a:rPr lang="en-IN" b="1" dirty="0"/>
              <a:t>Step 2: Student Profile Analysis</a:t>
            </a:r>
            <a:endParaRPr lang="en-IN" dirty="0"/>
          </a:p>
          <a:p>
            <a:pPr lvl="0"/>
            <a:r>
              <a:rPr lang="en-IN" dirty="0" err="1"/>
              <a:t>Analyze</a:t>
            </a:r>
            <a:r>
              <a:rPr lang="en-IN" dirty="0"/>
              <a:t> interests, skills, and academic performance </a:t>
            </a:r>
          </a:p>
          <a:p>
            <a:pPr lvl="0"/>
            <a:endParaRPr lang="en-IN" dirty="0"/>
          </a:p>
          <a:p>
            <a:r>
              <a:rPr lang="en-IN" b="1" dirty="0"/>
              <a:t>Step 3: Course Matching</a:t>
            </a:r>
            <a:endParaRPr lang="en-IN" dirty="0"/>
          </a:p>
          <a:p>
            <a:pPr lvl="0"/>
            <a:r>
              <a:rPr lang="en-IN" dirty="0"/>
              <a:t>Compare student profile with available courses </a:t>
            </a:r>
          </a:p>
          <a:p>
            <a:pPr lvl="0"/>
            <a:endParaRPr lang="en-IN" dirty="0"/>
          </a:p>
          <a:p>
            <a:r>
              <a:rPr lang="en-IN" b="1" dirty="0"/>
              <a:t>Step 4: Recommendation Generation</a:t>
            </a:r>
            <a:endParaRPr lang="en-IN" dirty="0"/>
          </a:p>
          <a:p>
            <a:pPr lvl="0"/>
            <a:r>
              <a:rPr lang="en-IN" dirty="0"/>
              <a:t>Identify suitable courses </a:t>
            </a:r>
          </a:p>
          <a:p>
            <a:pPr lvl="0"/>
            <a:r>
              <a:rPr lang="en-IN" dirty="0"/>
              <a:t>Provide personalized recommendations </a:t>
            </a:r>
          </a:p>
          <a:p>
            <a:pPr marL="0" lvl="0" indent="0">
              <a:buNone/>
            </a:pPr>
            <a:endParaRPr lang="en-IN" dirty="0"/>
          </a:p>
          <a:p>
            <a:r>
              <a:rPr lang="en-IN" b="1" dirty="0"/>
              <a:t>Step 5: Feedback Collection</a:t>
            </a:r>
            <a:endParaRPr lang="en-IN" dirty="0"/>
          </a:p>
          <a:p>
            <a:pPr lvl="0"/>
            <a:r>
              <a:rPr lang="en-IN" dirty="0"/>
              <a:t>Collect student feedback </a:t>
            </a:r>
          </a:p>
          <a:p>
            <a:pPr lvl="0"/>
            <a:r>
              <a:rPr lang="en-IN" dirty="0"/>
              <a:t>Use feedback for improving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384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13B6-0FD4-4D1E-4218-2541BBBD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Recommendation Approach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7BD2A-343B-E621-B823-2CDB399A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65"/>
            <a:ext cx="10515600" cy="493809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dirty="0"/>
              <a:t>Use multiple student characteristics for personalization </a:t>
            </a:r>
          </a:p>
          <a:p>
            <a:pPr lvl="0"/>
            <a:r>
              <a:rPr lang="en-IN" dirty="0"/>
              <a:t>Consider: </a:t>
            </a:r>
          </a:p>
          <a:p>
            <a:pPr lvl="1"/>
            <a:r>
              <a:rPr lang="en-IN" dirty="0"/>
              <a:t>Academic performance </a:t>
            </a:r>
          </a:p>
          <a:p>
            <a:pPr lvl="1"/>
            <a:r>
              <a:rPr lang="en-IN" dirty="0"/>
              <a:t>Interests </a:t>
            </a:r>
          </a:p>
          <a:p>
            <a:pPr lvl="1"/>
            <a:r>
              <a:rPr lang="en-IN" dirty="0"/>
              <a:t>Skills </a:t>
            </a:r>
          </a:p>
          <a:p>
            <a:pPr lvl="1"/>
            <a:r>
              <a:rPr lang="en-IN" dirty="0"/>
              <a:t>Preferences </a:t>
            </a:r>
          </a:p>
          <a:p>
            <a:pPr lvl="0"/>
            <a:r>
              <a:rPr lang="en-IN" dirty="0"/>
              <a:t>Generate individualized recommendations instead of generic suggestions </a:t>
            </a:r>
          </a:p>
          <a:p>
            <a:pPr lvl="0"/>
            <a:r>
              <a:rPr lang="en-IN" dirty="0"/>
              <a:t>Present recommendations in an understandable format </a:t>
            </a:r>
          </a:p>
          <a:p>
            <a:pPr lvl="0"/>
            <a:r>
              <a:rPr lang="en-IN" dirty="0"/>
              <a:t>Future extension: integrate machine-learning-based recommendation techniques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133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48BD-1D47-521F-F26D-247A69D0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Technical Soundness of the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5C557-DA71-5B63-DE4D-0B3DF37EA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690"/>
            <a:ext cx="10515600" cy="486927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Technologies &amp; Technical Feasibility</a:t>
            </a:r>
          </a:p>
          <a:p>
            <a:r>
              <a:rPr lang="en-IN" b="1" dirty="0"/>
              <a:t>Technologies Used</a:t>
            </a:r>
            <a:endParaRPr lang="en-IN" dirty="0"/>
          </a:p>
          <a:p>
            <a:pPr lvl="0"/>
            <a:r>
              <a:rPr lang="en-IN" b="1" dirty="0"/>
              <a:t>Frontend:</a:t>
            </a:r>
            <a:r>
              <a:rPr lang="en-IN" dirty="0"/>
              <a:t> React </a:t>
            </a:r>
          </a:p>
          <a:p>
            <a:pPr lvl="0"/>
            <a:r>
              <a:rPr lang="en-IN" b="1" dirty="0"/>
              <a:t>Backend:</a:t>
            </a:r>
            <a:r>
              <a:rPr lang="en-IN" dirty="0"/>
              <a:t> Spring Boot 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MySQL </a:t>
            </a:r>
          </a:p>
          <a:p>
            <a:pPr lvl="0"/>
            <a:r>
              <a:rPr lang="en-IN" b="1" dirty="0"/>
              <a:t>Recommendation/ML:</a:t>
            </a:r>
            <a:r>
              <a:rPr lang="en-IN" dirty="0"/>
              <a:t> Python and ML libraries </a:t>
            </a:r>
          </a:p>
          <a:p>
            <a:pPr lvl="0"/>
            <a:r>
              <a:rPr lang="en-IN" b="1" dirty="0"/>
              <a:t>Deployment:</a:t>
            </a:r>
            <a:r>
              <a:rPr lang="en-IN" dirty="0"/>
              <a:t> Docker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82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1551-A689-3A9E-DD47-2BE7F4D5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Technical Feasibility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9E34A-2E0B-2D2E-3442-273A92CFA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IN" dirty="0"/>
              <a:t>Required technologies are freely available </a:t>
            </a:r>
          </a:p>
          <a:p>
            <a:pPr lvl="0"/>
            <a:r>
              <a:rPr lang="en-IN" dirty="0"/>
              <a:t>Each module can be developed independently </a:t>
            </a:r>
          </a:p>
          <a:p>
            <a:pPr lvl="0"/>
            <a:r>
              <a:rPr lang="en-IN" dirty="0"/>
              <a:t>Modules can be tested separately </a:t>
            </a:r>
          </a:p>
          <a:p>
            <a:pPr lvl="0"/>
            <a:r>
              <a:rPr lang="en-IN" dirty="0"/>
              <a:t>Technologies support development of the proposed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60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EE9BB-39C1-37DB-2137-C8D06D7F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Technical Working &amp; Expected Outcome</a:t>
            </a:r>
            <a:br>
              <a:rPr lang="en-IN" b="1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31E04-AE86-8277-CF3D-B15FAD523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1213"/>
            <a:ext cx="10515600" cy="507575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Technical Working</a:t>
            </a:r>
          </a:p>
          <a:p>
            <a:pPr marL="0" indent="0">
              <a:buNone/>
            </a:pPr>
            <a:endParaRPr lang="en-IN" b="1" dirty="0"/>
          </a:p>
          <a:p>
            <a:pPr marL="1371600" lvl="3" indent="0">
              <a:buNone/>
            </a:pPr>
            <a:r>
              <a:rPr lang="en-IN" sz="2400" dirty="0"/>
              <a:t>Student Data</a:t>
            </a:r>
          </a:p>
          <a:p>
            <a:pPr marL="1371600" lvl="3" indent="0">
              <a:buNone/>
            </a:pPr>
            <a:r>
              <a:rPr lang="en-IN" sz="2400" dirty="0"/>
              <a:t>     ↓</a:t>
            </a:r>
          </a:p>
          <a:p>
            <a:pPr marL="1371600" lvl="3" indent="0">
              <a:buNone/>
            </a:pPr>
            <a:r>
              <a:rPr lang="en-IN" sz="2400" dirty="0"/>
              <a:t>Profile Analysis</a:t>
            </a:r>
          </a:p>
          <a:p>
            <a:pPr marL="1371600" lvl="3" indent="0">
              <a:buNone/>
            </a:pPr>
            <a:r>
              <a:rPr lang="en-IN" sz="2400" dirty="0"/>
              <a:t>     ↓</a:t>
            </a:r>
          </a:p>
          <a:p>
            <a:pPr marL="1371600" lvl="3" indent="0">
              <a:buNone/>
            </a:pPr>
            <a:r>
              <a:rPr lang="en-IN" sz="2400" dirty="0"/>
              <a:t>Course Matching</a:t>
            </a:r>
          </a:p>
          <a:p>
            <a:pPr marL="1371600" lvl="3" indent="0">
              <a:buNone/>
            </a:pPr>
            <a:r>
              <a:rPr lang="en-IN" sz="2400" dirty="0"/>
              <a:t>    ↓</a:t>
            </a:r>
          </a:p>
          <a:p>
            <a:pPr marL="1371600" lvl="3" indent="0">
              <a:buNone/>
            </a:pPr>
            <a:r>
              <a:rPr lang="en-IN" sz="2400" dirty="0"/>
              <a:t>Personalized Recommendation</a:t>
            </a:r>
          </a:p>
          <a:p>
            <a:pPr marL="1371600" lvl="3" indent="0">
              <a:buNone/>
            </a:pPr>
            <a:r>
              <a:rPr lang="en-IN" sz="2400" dirty="0"/>
              <a:t>     ↓</a:t>
            </a:r>
          </a:p>
          <a:p>
            <a:pPr marL="1371600" lvl="3" indent="0">
              <a:buNone/>
            </a:pPr>
            <a:r>
              <a:rPr lang="en-IN" sz="2400" dirty="0"/>
              <a:t>Student Feedback</a:t>
            </a:r>
          </a:p>
          <a:p>
            <a:pPr marL="1371600" lvl="3" indent="0">
              <a:buNone/>
            </a:pPr>
            <a:r>
              <a:rPr lang="en-IN" sz="2400" dirty="0"/>
              <a:t>    ↓</a:t>
            </a:r>
          </a:p>
          <a:p>
            <a:pPr marL="1371600" lvl="3" indent="0">
              <a:buNone/>
            </a:pPr>
            <a:r>
              <a:rPr lang="en-IN" sz="2400" dirty="0"/>
              <a:t>Improved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659159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5872-9504-00A4-9510-33B355A1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4" y="884903"/>
            <a:ext cx="10075606" cy="114054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Expected Outcome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8934F-4651-14BC-E1FC-5E9F04626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Personalized course suggestions </a:t>
            </a:r>
          </a:p>
          <a:p>
            <a:pPr lvl="0"/>
            <a:r>
              <a:rPr lang="en-IN" dirty="0"/>
              <a:t>Better matching of courses with student needs </a:t>
            </a:r>
          </a:p>
          <a:p>
            <a:pPr lvl="0"/>
            <a:r>
              <a:rPr lang="en-IN" dirty="0"/>
              <a:t>Reduced confusion during course selection </a:t>
            </a:r>
          </a:p>
          <a:p>
            <a:pPr lvl="0"/>
            <a:r>
              <a:rPr lang="en-IN" dirty="0"/>
              <a:t>Support for informed academic decisions </a:t>
            </a:r>
          </a:p>
          <a:p>
            <a:pPr lvl="0"/>
            <a:r>
              <a:rPr lang="en-IN" dirty="0"/>
              <a:t>Simple and student-friendly recommendation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466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30-08-2026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53C989-2E77-4EAB-9915-FA3C5850A46F}"/>
              </a:ext>
            </a:extLst>
          </p:cNvPr>
          <p:cNvSpPr txBox="1"/>
          <p:nvPr/>
        </p:nvSpPr>
        <p:spPr>
          <a:xfrm>
            <a:off x="540774" y="1376515"/>
            <a:ext cx="10353367" cy="512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course is important for a student’s academic growth and future career.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find it difficult to select courses based on their interests, skills, and academic performance.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course selection methods may provide general information without considering individual student needs.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 number of available courses can create confusion and make decision-making difficult.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also struggle to identify courses that match their career goals and preferences.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personalized approach is needed to support students in course selection.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information and identifies suitable courses.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personalized course recommendations that help students make better-informed decisions</a:t>
            </a:r>
            <a:r>
              <a:rPr lang="en-IN" sz="2000" dirty="0"/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9F1E7D-6E71-5F69-A534-49F3E4763489}"/>
              </a:ext>
            </a:extLst>
          </p:cNvPr>
          <p:cNvSpPr txBox="1"/>
          <p:nvPr/>
        </p:nvSpPr>
        <p:spPr>
          <a:xfrm>
            <a:off x="875070" y="1455174"/>
            <a:ext cx="8268929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course recommendations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students.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student academic and preference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interests and skills.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suitable courses for each student.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course recommendations.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course-selection process.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students make informed academic decisions.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confusion while selecting courses.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985884"/>
              </p:ext>
            </p:extLst>
          </p:nvPr>
        </p:nvGraphicFramePr>
        <p:xfrm>
          <a:off x="274646" y="689466"/>
          <a:ext cx="11642705" cy="55695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Hilal et. al. [</a:t>
                      </a:r>
                      <a:r>
                        <a:rPr lang="en-IN" sz="1400" b="1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Epileptic Seizure Detection and Classification Model Using Optimal Deep Canonical Sparse Autoencoder,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Biology, 2022-mdpi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Coyote optimization algorithm 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(COA) for feature selection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Krill herd algorithm 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(KHA) for parameter tuning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deep canonical sparse autoencoder-based epileptic seizure detection and classification model using EEG signals.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achieves a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98.67% 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98.73%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under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400" b="1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multi-classification,</a:t>
                      </a:r>
                      <a:r>
                        <a:rPr lang="en-IN" sz="1400" b="0" i="0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respectively.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paper does not mention the specific limitations of the proposed </a:t>
                      </a:r>
                      <a:r>
                        <a:rPr lang="en-IN" sz="1400" b="1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DCSAE-ESDC </a:t>
                      </a:r>
                      <a:r>
                        <a:rPr lang="en-IN" sz="1400" b="0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technique or the experimental analysis conducted using the benchmark epileptic seizure dataset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Sanjog Ray, Anuj Sharma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 Collaborative Filtering Based Approach for Recommending Elective Courses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Uses </a:t>
                      </a:r>
                      <a:r>
                        <a:rPr lang="en-IN" sz="1400" b="1" dirty="0"/>
                        <a:t>collaborative filtering</a:t>
                      </a:r>
                      <a:r>
                        <a:rPr lang="en-IN" sz="1400" dirty="0"/>
                        <a:t> to recommend elective courses.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Predicts the grade a student may obtain in a particular course.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Helps students choose electives based on predicted academic performance.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Shows that collaborative filtering can be effective for course recommendation.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Mainly focuses on predicting grades.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Does not extensively consider student interests, skills, or career goals.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Qimin</a:t>
                      </a:r>
                      <a:r>
                        <a:rPr lang="en-IN" sz="1400" dirty="0"/>
                        <a:t> Ban, Wen Wu, Wenxin Hu, Hui Lin, Wei Zheng, Liang He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Personalized Course Recommendations Based on a Learner’s Knowledge and Personality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Uses </a:t>
                      </a:r>
                      <a:r>
                        <a:rPr lang="en-IN" sz="1400" b="1" dirty="0"/>
                        <a:t>multi-task learning</a:t>
                      </a:r>
                      <a:r>
                        <a:rPr lang="en-IN" sz="1400" dirty="0"/>
                        <a:t>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Combines knowledge tracing, learner knowledge level, sequential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, and personality.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Generates personalized course recommendation lists.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Shows that learner knowledge and personality can improve personalization.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Experimental results demonstrate improvements in HR, NDCG, and precision.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Requires learner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and knowledge-related data.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The approach can be further explored for different educational environments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EE8017-6DBD-2192-1D1A-11FCEEF4987F}"/>
              </a:ext>
            </a:extLst>
          </p:cNvPr>
          <p:cNvSpPr txBox="1"/>
          <p:nvPr/>
        </p:nvSpPr>
        <p:spPr>
          <a:xfrm>
            <a:off x="530942" y="1246409"/>
            <a:ext cx="8613058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not consider multiple student factors together.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focus mainly on academic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interests and skills may not be sufficiently considered.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can be improved.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feedback can be incorporated to improve future recommendations.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simple and student-friendly recommendation system.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that combines academic performance, interests, skills, preferences, and feedback to provide personalized course recommendations can improve the course-selection process.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F1B9A2-5D95-BB74-3885-1E3614DD1691}"/>
              </a:ext>
            </a:extLst>
          </p:cNvPr>
          <p:cNvSpPr txBox="1"/>
          <p:nvPr/>
        </p:nvSpPr>
        <p:spPr>
          <a:xfrm>
            <a:off x="452284" y="1111045"/>
            <a:ext cx="9580785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course recommendations.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student characteristics.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recommendations according to individual student profiles.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student-friendly interface.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recommendations presented in an understandable format.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provide feedback on recommendations.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academic performance, interests, skills, and preferences for recommendation.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individualized recommendations rather than generic course suggestions.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with machine-learning-based recommendation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13594A-F8EA-1BB4-C70D-8B09D70EFA68}"/>
              </a:ext>
            </a:extLst>
          </p:cNvPr>
          <p:cNvSpPr txBox="1"/>
          <p:nvPr/>
        </p:nvSpPr>
        <p:spPr>
          <a:xfrm>
            <a:off x="422787" y="1376516"/>
            <a:ext cx="11335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required technologies such as React, Spring Boot, MySQL, Python/ML libraries, and Docker are freely available and support the development of the system.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technically, economically, and operationally feasible, with each module developed and tested independently.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D14CFF-9C01-EAD4-7877-968F5EAE9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870" y="2527301"/>
            <a:ext cx="6386861" cy="425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1085</Words>
  <Application>Microsoft Office PowerPoint</Application>
  <PresentationFormat>Widescreen</PresentationFormat>
  <Paragraphs>192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PROJECT DESIGN:</vt:lpstr>
      <vt:lpstr>System Modules </vt:lpstr>
      <vt:lpstr>Module 2: Data Analysis </vt:lpstr>
      <vt:lpstr>2. Methodology Adopted </vt:lpstr>
      <vt:lpstr>Recommendation Approach </vt:lpstr>
      <vt:lpstr>3. Technical Soundness of the Project </vt:lpstr>
      <vt:lpstr>Technical Feasibility </vt:lpstr>
      <vt:lpstr>Technical Working &amp; Expected Outcome   </vt:lpstr>
      <vt:lpstr>Expected Outcome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maddi reddy vaishnavi</cp:lastModifiedBy>
  <cp:revision>34</cp:revision>
  <dcterms:created xsi:type="dcterms:W3CDTF">2026-08-08T06:33:56Z</dcterms:created>
  <dcterms:modified xsi:type="dcterms:W3CDTF">2026-09-26T08:20:58Z</dcterms:modified>
</cp:coreProperties>
</file>